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DeepEval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Faithfulness</c:v>
                  </c:pt>
                  <c:pt idx="1">
                    <c:v>Relevancy</c:v>
                  </c:pt>
                  <c:pt idx="2">
                    <c:v>Precision</c:v>
                  </c:pt>
                  <c:pt idx="3">
                    <c:v>Recall</c:v>
                  </c:pt>
                  <c:pt idx="4">
                    <c:v>Hallucination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</c:v>
                </c:pt>
                <c:pt idx="1">
                  <c:v>0.79</c:v>
                </c:pt>
                <c:pt idx="2">
                  <c:v>0.81</c:v>
                </c:pt>
                <c:pt idx="3">
                  <c:v>0.73</c:v>
                </c:pt>
                <c:pt idx="4">
                  <c:v>0.12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RAGAS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Faithfulness</c:v>
                  </c:pt>
                  <c:pt idx="1">
                    <c:v>Relevancy</c:v>
                  </c:pt>
                  <c:pt idx="2">
                    <c:v>Precision</c:v>
                  </c:pt>
                  <c:pt idx="3">
                    <c:v>Recall</c:v>
                  </c:pt>
                  <c:pt idx="4">
                    <c:v>Hallucination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0.82</c:v>
                </c:pt>
                <c:pt idx="1">
                  <c:v>0.77</c:v>
                </c:pt>
                <c:pt idx="2">
                  <c:v>0.78</c:v>
                </c:pt>
                <c:pt idx="3">
                  <c:v>0.71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Threshold</c:v>
                </c:pt>
              </c:strCache>
            </c:strRef>
          </c:tx>
          <c:spPr>
            <a:solidFill>
              <a:srgbClr val="E5E7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Faithfulness</c:v>
                  </c:pt>
                  <c:pt idx="1">
                    <c:v>Relevancy</c:v>
                  </c:pt>
                  <c:pt idx="2">
                    <c:v>Precision</c:v>
                  </c:pt>
                  <c:pt idx="3">
                    <c:v>Recall</c:v>
                  </c:pt>
                  <c:pt idx="4">
                    <c:v>Hallucination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</c:v>
                </c:pt>
                <c:pt idx="1">
                  <c:v>0.75</c:v>
                </c:pt>
                <c:pt idx="2">
                  <c:v>0.75</c:v>
                </c:pt>
                <c:pt idx="3">
                  <c:v>0.7</c:v>
                </c:pt>
                <c:pt idx="4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474720"/>
            <a:ext cx="2743200" cy="16687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3108960"/>
            <a:ext cx="2377440" cy="20345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2377440" cy="20345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Supply Chain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Intelligence Assistant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Analyse · Predict · Recommend · Across Your Entire Supply Chain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146304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AI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0" y="3154680"/>
            <a:ext cx="146304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RAG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0" y="3154680"/>
            <a:ext cx="146304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LangGraph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4960" y="3154680"/>
            <a:ext cx="146304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DeepEval + RAGAS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49440" y="3154680"/>
            <a:ext cx="146304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Datasets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Sai Krishna Gangadharuni  |  Prodapt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Supply chain managers spend significant time investigating operational risks across fragmented systems — without a unified intelligence layer.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2743200" cy="3200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73352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delays increasing for critical components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 congestion impacting shipment schedules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Warehouse inventory approaching stockout levels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Transport costs spiking unexpectedly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 spikes causing fulfillment bottlenecks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234440"/>
            <a:ext cx="274320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581912"/>
            <a:ext cx="2743200" cy="3200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73352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 alerts &amp; manual analysis only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scattered across ERP, WMS, TMS, vendor portals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proactive risk intelligence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Hours spent correlating signals manually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explainable recommendations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581912"/>
            <a:ext cx="2743200" cy="3200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673352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query interface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incident retrieval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risk 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Explainable mitigation recommendations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anomaly detection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FDECEA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27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10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monitoring systems cannot proactively detect, correlate, or recommend actions for emerging supply chain risks.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3840480" cy="4206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31520"/>
            <a:ext cx="384048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498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composite AI system that thinks like a supply chain operations team.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AI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Orchestrator routes to Supplier Risk, Shipment Analysis, or Inventory Intelligence agents based on query intent.
</a:t>
            </a:r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RAG Retrieval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dense + BM25 sparse + RRF fusion + cosine rerank → top-5 context.
</a:t>
            </a:r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Corrective RAG (CRAG)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Auto-reformulates low-scoring queries for better retrieval.
</a:t>
            </a:r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HILT — Human in the Loop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severity alerts pause for human approval before dispatch.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0" y="749808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749808"/>
            <a:ext cx="64008" cy="1828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841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Queries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1874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Operations teams describe supply chain problems conversationally — no SQL, no dashboards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749808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749808"/>
            <a:ext cx="6400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841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Incident Retrieval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1097280"/>
            <a:ext cx="1874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Retrieves historical logistics disruptions by conceptual similarity using hybrid search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2761488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2761488"/>
            <a:ext cx="64008" cy="1828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852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Explainable Recommendations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108960"/>
            <a:ext cx="1874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mitigation recommendation cites source documents [Doc 1]...[Doc N]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20840" y="2761488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2761488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852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Framework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3108960"/>
            <a:ext cx="1874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DeepEval + RAGAS with 50 golden Q&amp;A pairs grounded in real dataset values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High-level view showing data ingestion, storage layers, multi-agent pipeline, and core components</a:t>
            </a:r>
            <a:endParaRPr lang="en-US" sz="900" dirty="0"/>
          </a:p>
        </p:txBody>
      </p:sp>
      <p:pic>
        <p:nvPicPr>
          <p:cNvPr id="8" name="Image 0" descr="/sessions/fervent-serene-cray/mnt/capstone_project/AI-Powered-Supply-Chain-Risk-Intelligence-Assistant/docs/architecture/AI-Powered-Supply-Chain-Risk-Intelligence-Assistant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Engineering — CSV to Vector DB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Chunking strategy: Row-level NL transformation — each CSV row becomes one self-contained incident document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55448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 CSV reader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Kaggle MCP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180k DataCo rows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Fashion SKUs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920240" y="1938528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▶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084832" y="1005840"/>
            <a:ext cx="1554480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1051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84832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84832" y="15087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2,500 rows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random_state=42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Balanced coverage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ingestion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39312" y="1938528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▶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803904" y="1005840"/>
            <a:ext cx="1554480" cy="1828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1051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03904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03904" y="15087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 → NL incident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'Late delivery LATAM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First Class...'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chunking strategy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58384" y="1938528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522976" y="1005840"/>
            <a:ext cx="1554480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1051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④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22976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22976" y="15087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fastembed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BAAI/bge-small-en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384-dim vectors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ONNX — free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77456" y="1938528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▶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242048" y="1005840"/>
            <a:ext cx="155448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1051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⑤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42048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42048" y="15087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Cosine similarity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BM25 sparse index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 to disk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301752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017520"/>
            <a:ext cx="64008" cy="1920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row-level chunking?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3364992"/>
            <a:ext cx="2468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CSV row is already a self-contained incident record (50-150 tokens). Recursive chunking would split related fields apart, destroying semantic coherence. Row-level is the optimal strategy for structured tabular data.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301752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3017520"/>
            <a:ext cx="64008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fastembed + BAAI/bge?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3364992"/>
            <a:ext cx="2468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locally as ONNX — zero API cost during ingestion. BGE models are specifically trained for retrieval (not just similarity), scoring higher on BEIR benchmarks vs all-MiniLM. Same 384-dim, better retrieval quality.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301752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017520"/>
            <a:ext cx="64008" cy="19202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ChromaDB + BM25 together?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3364992"/>
            <a:ext cx="2468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vectors miss exact keyword matches ('LATAM', 'First Class'). BM25 catches them. RRF fusion merges both ranked lists — best of semantic + keyword retrieval. Neither alone achieves the same precision.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Design — LangGraph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508760" cy="8686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WebSocket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37360" y="11430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713232"/>
            <a:ext cx="1508760" cy="868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731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74520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Injection · length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check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0" y="11430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713232"/>
            <a:ext cx="150876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731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Lookup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≥0.92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&lt;100ms hit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29200" y="11430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713232"/>
            <a:ext cx="150876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731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66360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 + Severity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LangGraph routing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75120" y="11430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713232"/>
            <a:ext cx="150876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731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12280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Faithfulness check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20740" y="1581912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947672"/>
            <a:ext cx="219456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1965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Supplier Risk Agent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4400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· lead times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performance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11680" y="1581912"/>
            <a:ext cx="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011680" y="2770632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383280" y="1947672"/>
            <a:ext cx="219456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1965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Shipment Analysis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0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 delivery rates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carrier performance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80560" y="1581912"/>
            <a:ext cx="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480560" y="2770632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852160" y="1947672"/>
            <a:ext cx="219456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1965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Intelligence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52160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Stockout risk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 spikes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49440" y="1581912"/>
            <a:ext cx="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949440" y="2770632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097280" y="3044952"/>
            <a:ext cx="6675120" cy="640080"/>
          </a:xfrm>
          <a:prstGeom prst="rect">
            <a:avLst/>
          </a:prstGeom>
          <a:solidFill>
            <a:srgbClr val="F0FD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88720" y="30906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Retrieval:  Dense (ChromaDB top-20)  +  Sparse (BM25 top-20)  →  RRF Fusion (k=60)  →  Cosine Rerank top-5  →  CRAG if score &lt; 0.6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2011680" cy="1097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8953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 Checkpointer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7472" y="413308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Persists full pipeline state between turns — enables multi-turn memory and HILT resume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423160" y="3840480"/>
            <a:ext cx="2011680" cy="1097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6312" y="38953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Task Routing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96312" y="413308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Routing tasks → Groq 8B (fast). Reasoning/Recommendation/Judge → GPT-4o-mini (quality)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0" y="3840480"/>
            <a:ext cx="2011680" cy="1097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38953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HILT — Human Review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45152" y="413308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severity: LangGraph interrupt_before('recommendation') — human approves before dispatch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720840" y="3840480"/>
            <a:ext cx="2011680" cy="1097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93992" y="38953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LangSmith Tracing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793992" y="4133088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agent call, LLM prompt, retrieval context, token count and latency automatically traced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13232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58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Framework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LangGraph — DAG pipeline with conditional edges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SqliteSaver checkpointer — multi-turn memory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specialist agents + orchestrator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interrupt_before for HILT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08960" y="713232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713232"/>
            <a:ext cx="2743200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758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Providers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152144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GPT-4o-mini — reasoning, recommendation, judge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Groq llama-3.1-8b — fast routing &amp; classification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Groq llama-3.3-70b — mid-weight fallback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Fallback chain: OpenAI → Groq 70B → Groq 8B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713232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713232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758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&amp; Embeddings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152144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fastembed + BAAI/bge-small-en (384-dim)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— persistent vector store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rank-bm25 — sparse keyword index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RRF fusion + cosine reranker + CRAG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2862072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862072"/>
            <a:ext cx="2743200" cy="3657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/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300984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+ uvicorn + WebSocket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Pydantic schemas for all endpoints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LangSmith tracing — full observability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for feedback + session state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08960" y="2862072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2862072"/>
            <a:ext cx="27432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300984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 + Vite + Tailwind CSS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LangGraph DAG visualization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Quality panel (0-100 score)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pages: Chat, Flow, Admin, Analytics, Present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89320" y="2862072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2862072"/>
            <a:ext cx="27432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3300984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DeepEval — Faithfulness, Relevancy, Hallucination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RAGAS — Context Precision &amp; Recall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 golden Q&amp;A pairs (real dataset values)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LLM-as-judge faithfulness on every live query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Results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DeepEval + RAGAS — 50 golden Q&amp;A pairs grounded in real DataCo and fashion dataset values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91440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10058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005840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223760" y="1097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Faithfulness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23760" y="13533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≥ 0.80 ✓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7920" y="20574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2057400"/>
            <a:ext cx="7315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223760" y="2148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Hallucination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223760" y="24048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≤ 0.20 ✓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217920" y="31089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3108960"/>
            <a:ext cx="73152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223760" y="3200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Golden Q&amp;A Pairs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223760" y="34564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dataset values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217920" y="41605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4160520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5508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2×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7223760" y="42519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 Frameworks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223760" y="45079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DeepEval + RAGAS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55448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95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1371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page → select DataCo CSV → Process &amp; Load → watch live pipeline progress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93392" y="777240"/>
            <a:ext cx="155448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777240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795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66544" y="1371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 a Query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84832" y="1755648"/>
            <a:ext cx="1371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Chat: 'Which shipping mode has highest late delivery rate?' — watch Flow page DAG animate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12464" y="777240"/>
            <a:ext cx="155448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777240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795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85616" y="1371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Pipeline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03904" y="1755648"/>
            <a:ext cx="1371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Flow page: live node activation, Run Quality score, faithfulness result, models used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31536" y="777240"/>
            <a:ext cx="155448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777240"/>
            <a:ext cx="155448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795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04688" y="1371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Fraud Alert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22976" y="1755648"/>
            <a:ext cx="1371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Chat: 'I have a suspected fraud order from LATAM worth $50,000' — triggers HIGH severity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50608" y="777240"/>
            <a:ext cx="155448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777240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795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23760" y="1371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42048" y="1755648"/>
            <a:ext cx="1371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 page: late delivery by market, fraud by region, shipment mode breakdown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DECEA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queries available in presentation_queries.txt — 18 curated questions covering all agent paths, HILT trigger, and cache demo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Questions, discussion, and feedback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62672" y="4572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0144" y="4572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4572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05088" y="4572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23444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62672" y="123444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0144" y="123444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57616" y="123444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05088" y="123444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201168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62672" y="201168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201168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01168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5088" y="201168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278892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62672" y="278892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0144" y="278892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278892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5088" y="278892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356616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2672" y="356616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10144" y="356616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57616" y="356616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05088" y="356616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43434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43434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0144" y="43434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43434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05088" y="4343400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11887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73152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Krishna Gangadharuni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" y="31821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Supply Chain Risk Intelligence Assistant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Prodapt · June 2026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Prodapt.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www.prodapt.com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Supply Chain Risk Intelligence Assistant</dc:title>
  <dc:subject>PptxGenJS Presentation</dc:subject>
  <dc:creator>PptxGenJS</dc:creator>
  <cp:lastModifiedBy>PptxGenJS</cp:lastModifiedBy>
  <cp:revision>1</cp:revision>
  <dcterms:created xsi:type="dcterms:W3CDTF">2026-06-05T09:57:48Z</dcterms:created>
  <dcterms:modified xsi:type="dcterms:W3CDTF">2026-06-05T09:57:48Z</dcterms:modified>
</cp:coreProperties>
</file>