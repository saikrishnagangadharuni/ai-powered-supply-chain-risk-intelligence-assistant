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DeepEval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Precision</c:v>
                  </c:pt>
                  <c:pt idx="3">
                    <c:v>Recall</c:v>
                  </c:pt>
                  <c:pt idx="4">
                    <c:v>Hallucination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0.84</c:v>
                </c:pt>
                <c:pt idx="1">
                  <c:v>0.79</c:v>
                </c:pt>
                <c:pt idx="2">
                  <c:v>0.81</c:v>
                </c:pt>
                <c:pt idx="3">
                  <c:v>0.73</c:v>
                </c:pt>
                <c:pt idx="4">
                  <c:v>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RAGAS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Precision</c:v>
                  </c:pt>
                  <c:pt idx="3">
                    <c:v>Recall</c:v>
                  </c:pt>
                  <c:pt idx="4">
                    <c:v>Hallucination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0.82</c:v>
                </c:pt>
                <c:pt idx="1">
                  <c:v>0.77</c:v>
                </c:pt>
                <c:pt idx="2">
                  <c:v>0.78</c:v>
                </c:pt>
                <c:pt idx="3">
                  <c:v>0.71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Threshold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Precision</c:v>
                  </c:pt>
                  <c:pt idx="3">
                    <c:v>Recall</c:v>
                  </c:pt>
                  <c:pt idx="4">
                    <c:v>Hallucination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0.75</c:v>
                </c:pt>
                <c:pt idx="2">
                  <c:v>0.75</c:v>
                </c:pt>
                <c:pt idx="3">
                  <c:v>0.7</c:v>
                </c:pt>
                <c:pt idx="4">
                  <c:v>0.2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fervent-serene-cray/mnt/outputs/kranti_slide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23360" y="1737360"/>
            <a:ext cx="5074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114800" y="192024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AI-Powered Supply Chain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Risk Intelligence Assistant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Problem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Supply chain managers spend significant time investigating operational risks across fragmented systems — without a unified intelligence layer.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234440"/>
            <a:ext cx="2743200" cy="347472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234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Challenges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581912"/>
            <a:ext cx="2743200" cy="3200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673352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Supplier delays increasing for critical components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Port congestion impacting shipment schedules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Warehouse inventory approaching stockout levels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Transport costs spiking unexpectedly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Demand spikes causing fulfillment bottlenecks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154680" y="1234440"/>
            <a:ext cx="2743200" cy="34747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1234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Current Pain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1581912"/>
            <a:ext cx="2743200" cy="3200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673352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Threshold alerts &amp; manual analysis only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scattered across ERP, WMS, TMS, vendor portals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proactive risk intelligence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Hours spent correlating signals manually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explainable recommendations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234440"/>
            <a:ext cx="274320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12344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Need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581912"/>
            <a:ext cx="2743200" cy="32004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673352"/>
            <a:ext cx="2560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Natural language query interface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incident retrieval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Multi-agent risk analysis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Explainable mitigation recommendations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anomaly detection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solidFill>
            <a:srgbClr val="FDECEA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2744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810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Traditional monitoring systems cannot proactively detect, correlate, or recommend actions for emerging supply chain risks.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Proposed Solution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731520"/>
            <a:ext cx="3840480" cy="420624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731520"/>
            <a:ext cx="384048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749808"/>
            <a:ext cx="3657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Approach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325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composite AI system that thinks like a supply chain operations team.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1920240"/>
            <a:ext cx="34747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Multi-Agent 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Orchestrator routes to Supplier Risk, Shipment Analysis, or Inventory Intelligence agents based on query intent.
</a:t>
            </a:r>
            <a:pPr indent="0" marL="0">
              <a:buNone/>
            </a:pPr>
            <a:r>
              <a:rPr lang="en-US" sz="850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RAG Retrieval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 dense + BM25 sparse + RRF fusion + cosine rerank → top-5 context.
</a:t>
            </a:r>
            <a:pPr indent="0" marL="0">
              <a:buNone/>
            </a:pPr>
            <a:r>
              <a:rPr lang="en-US" sz="850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Corrective RAG (CRAG)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Auto-reformulates low-scoring queries for better retrieval.
</a:t>
            </a:r>
            <a:pPr indent="0" marL="0">
              <a:buNone/>
            </a:pPr>
            <a:r>
              <a:rPr lang="en-US" sz="850" b="1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HILT — Human in the Loop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severity alerts pause for human approval before dispatch.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389120" y="749808"/>
            <a:ext cx="21945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89120" y="749808"/>
            <a:ext cx="64008" cy="18288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841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Natural Language Queries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0" y="1097280"/>
            <a:ext cx="18745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Operations teams describe supply chain problems conversationally — no SQL, no dashboards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749808"/>
            <a:ext cx="21945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20840" y="749808"/>
            <a:ext cx="64008" cy="1828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8412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Incident Retrieval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03720" y="1097280"/>
            <a:ext cx="18745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Retrieves historical logistics disruptions by conceptual similarity using hybrid search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89120" y="2761488"/>
            <a:ext cx="21945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9120" y="2761488"/>
            <a:ext cx="64008" cy="182880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Explainable Recommendations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0" y="3108960"/>
            <a:ext cx="18745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mitigation recommendation cites source documents [Doc 1]...[Doc N]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20840" y="2761488"/>
            <a:ext cx="21945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20840" y="2761488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03720" y="2852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Framework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03720" y="3108960"/>
            <a:ext cx="187452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DeepEval + RAGAS with 50 golden Q&amp;A pairs grounded in real dataset values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Architecture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High-level view showing data ingestion, storage layers, multi-agent pipeline, and core components</a:t>
            </a:r>
            <a:endParaRPr lang="en-US" sz="900" dirty="0"/>
          </a:p>
        </p:txBody>
      </p:sp>
      <p:pic>
        <p:nvPicPr>
          <p:cNvPr id="8" name="Image 0" descr="/sessions/fervent-serene-cray/mnt/capstone_project/AI-Powered-Supply-Chain-Risk-Intelligence-Assistant/docs/architecture/AI-Powered-Supply-Chain-Risk-Intelligence-Assistant_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60120"/>
            <a:ext cx="822960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Data Engineering — CSV to Vector DB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Chunking strategy: Row-level NL transformation — each CSV row becomes one self-contained incident document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1554480" cy="182880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①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Load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50876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 CSV reader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Kaggle MCP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180k DataCo rows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100 Fashion SKUs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1920240" y="1938528"/>
            <a:ext cx="2286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84832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▶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084832" y="1005840"/>
            <a:ext cx="1554480" cy="18288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4832" y="10515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②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084832" y="1307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Sample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84832" y="150876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2,500 rows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random_state=42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Balanced coverage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 ingestion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39312" y="1938528"/>
            <a:ext cx="2286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03904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▶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803904" y="1005840"/>
            <a:ext cx="1554480" cy="18288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03904" y="10515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③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803904" y="1307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Transform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803904" y="150876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Row → NL incident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'Late delivery LATAM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via First Class...'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Our chunking strategy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358384" y="1938528"/>
            <a:ext cx="2286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22976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▶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5522976" y="1005840"/>
            <a:ext cx="1554480" cy="18288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22976" y="10515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④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522976" y="1307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Embed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22976" y="150876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fastembed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BAAI/bge-small-en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384-dim vectors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Local ONNX — free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077456" y="1938528"/>
            <a:ext cx="2286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42048" y="184708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▶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242048" y="1005840"/>
            <a:ext cx="1554480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42048" y="10515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⑤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42048" y="1307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242048" y="1508760"/>
            <a:ext cx="1554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Cosine similarity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BM25 sparse index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Persist to disk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74320" y="301752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74320" y="3017520"/>
            <a:ext cx="64008" cy="1920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3108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row-level chunking?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3364992"/>
            <a:ext cx="2468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CSV row is already a self-contained incident record (50-150 tokens). Recursive chunking would split related fields apart, destroying semantic coherence. Row-level is the optimal strategy for structured tabular data.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0" y="301752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3200400" y="3017520"/>
            <a:ext cx="64008" cy="1920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83280" y="3108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fastembed + BAAI/bge?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383280" y="3364992"/>
            <a:ext cx="2468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Runs locally as ONNX — zero API cost during ingestion. BGE models are specifically trained for retrieval (not just similarity), scoring higher on BEIR benchmarks vs all-MiniLM. Same 384-dim, better retrieval quality.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26480" y="3017520"/>
            <a:ext cx="27889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26480" y="3017520"/>
            <a:ext cx="64008" cy="192024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9360" y="310896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ChromaDB + BM25 together?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309360" y="3364992"/>
            <a:ext cx="24688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Dense vectors miss exact keyword matches ('LATAM', 'First Class'). BM25 catches them. RRF fusion merges both ranked lists — best of semantic + keyword retrieval. Neither alone achieves the same precision.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Multi-Agent Design — LangGraph Pipeline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1508760" cy="868680"/>
          </a:xfrm>
          <a:prstGeom prst="rect">
            <a:avLst/>
          </a:prstGeom>
          <a:solidFill>
            <a:srgbClr val="1E3A8A"/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31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 Query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28600" y="1078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Natural language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via WebSocket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737360" y="11430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713232"/>
            <a:ext cx="1508760" cy="8686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74520" y="731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Input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1874520" y="1078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Injection · length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Domain check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383280" y="11430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0440" y="713232"/>
            <a:ext cx="1508760" cy="8686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0440" y="731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520440" y="1078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≥0.92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&lt;100ms hit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5029200" y="11430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66360" y="713232"/>
            <a:ext cx="1508760" cy="8686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731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Orchestrator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66360" y="1078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Intent + Severity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LangGraph routing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675120" y="11430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2280" y="713232"/>
            <a:ext cx="1508760" cy="8686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731520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Recommendation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812280" y="1078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Synthesis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Faithfulness check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920740" y="1581912"/>
            <a:ext cx="0" cy="365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1947672"/>
            <a:ext cx="21945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1965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Supplier Risk Agent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14400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Fraud · lead times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delivery performance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011680" y="1581912"/>
            <a:ext cx="0" cy="3657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2011680" y="2770632"/>
            <a:ext cx="0" cy="27432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383280" y="1947672"/>
            <a:ext cx="21945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1965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Shipment Analysis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83280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Late delivery rates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carrier performance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480560" y="1581912"/>
            <a:ext cx="0" cy="3657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480560" y="2770632"/>
            <a:ext cx="0" cy="27432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852160" y="1947672"/>
            <a:ext cx="2194560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52160" y="19659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Inventory Intelligence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52160" y="2258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Stockout risk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demand spikes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949440" y="1581912"/>
            <a:ext cx="0" cy="3657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949440" y="2770632"/>
            <a:ext cx="0" cy="27432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097280" y="3044952"/>
            <a:ext cx="6675120" cy="640080"/>
          </a:xfrm>
          <a:prstGeom prst="rect">
            <a:avLst/>
          </a:prstGeom>
          <a:solidFill>
            <a:srgbClr val="F0FDF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88720" y="3090672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809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Hybrid Retrieval:  Dense (ChromaDB top-20)  +  Sparse (BM25 top-20)  →  RRF Fusion (k=60)  →  Cosine Rerank top-5  →  CRAG if score &lt; 0.6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74320" y="3840480"/>
            <a:ext cx="20116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38953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Checkpointer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47472" y="4133088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Persists full pipeline state between turns — enables multi-turn memory and HILT resume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423160" y="3840480"/>
            <a:ext cx="20116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6312" y="38953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Task Routing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496312" y="4133088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Routing tasks → Groq 8B (fast). Reasoning/Recommendation/Judge → GPT-4o-mini (quality)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572000" y="3840480"/>
            <a:ext cx="20116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38953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HILT — Human Review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645152" y="4133088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 severity: LangGraph interrupt_before('recommendation') — human approves before dispatch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720840" y="3840480"/>
            <a:ext cx="2011680" cy="109728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93992" y="3895344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 Tracing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793992" y="4133088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call, LLM prompt, retrieval context, token count and latency automatically traced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 Stack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13232"/>
            <a:ext cx="2743200" cy="365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58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 Framework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0040" y="115214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LangGraph — DAG pipeline with conditional edges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SqliteSaver checkpointer — multi-turn memory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 specialist agents + orchestrator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interrupt_before for HILT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108960" y="71323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08960" y="713232"/>
            <a:ext cx="2743200" cy="365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758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Providers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115214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GPT-4o-mini — reasoning, recommendation, judge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Groq llama-3.1-8b — fast routing &amp; classification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Groq llama-3.3-70b — mid-weight fallback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Fallback chain: OpenAI → Groq 70B → Groq 8B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989320" y="71323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89320" y="713232"/>
            <a:ext cx="2743200" cy="3657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589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Retrieval &amp; Embeddings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080760" y="115214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fastembed + BAAI/bge-small-en (384-dim)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ChromaDB — persistent vector store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rank-bm25 — sparse keyword index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RRF fusion + cosine reranker + CRAG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" y="286207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2862072"/>
            <a:ext cx="2743200" cy="365760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 / API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330098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FastAPI + uvicorn + WebSocket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Pydantic schemas for all endpoints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LangSmith tracing — full observability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SQLite for feedback + session state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108960" y="286207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08960" y="2862072"/>
            <a:ext cx="2743200" cy="365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0" y="330098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18 + Vite + Tailwind CSS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LangGraph DAG visualization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Quality panel (0-100 score)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 pages: Chat, Flow, Admin, Analytics, Present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89320" y="2862072"/>
            <a:ext cx="2743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9320" y="2862072"/>
            <a:ext cx="2743200" cy="3657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80760" y="29077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80760" y="3300984"/>
            <a:ext cx="2560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DeepEval — Faithfulness, Relevancy, Hallucination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RAGAS — Context Precision &amp; Recall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50 golden Q&amp;A pairs (real dataset values)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LLM-as-judge faithfulness on every live query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Evaluation Results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65760" y="658368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DeepEval + RAGAS — 50 golden Q&amp;A pairs grounded in real DataCo and fashion dataset values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914400"/>
          <a:ext cx="56692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217920" y="100584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17920" y="1005840"/>
            <a:ext cx="73152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55080" y="10972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0.84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7223760" y="10972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Faithfulness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223760" y="135331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≥ 0.80 ✓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6217920" y="205740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217920" y="2057400"/>
            <a:ext cx="73152" cy="9144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55080" y="21488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0.12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7223760" y="214884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Hallucination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223760" y="240487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≤ 0.20 ✓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217920" y="310896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17920" y="3108960"/>
            <a:ext cx="73152" cy="91440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7223760" y="320040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Q&amp;A Pairs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223760" y="345643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 dataset values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217920" y="416052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217920" y="4160520"/>
            <a:ext cx="73152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5508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C3AE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2×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7223760" y="425196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 Frameworks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223760" y="450799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DeepEval + RAGAS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594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1645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1554480" cy="41605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777240"/>
            <a:ext cx="1554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955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7472" y="1371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Ingest Data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1755648"/>
            <a:ext cx="1371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Admin page → select DataCo CSV → Process &amp; Load → watch live pipeline progress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993392" y="777240"/>
            <a:ext cx="1554480" cy="41605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93392" y="777240"/>
            <a:ext cx="1554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7955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066544" y="1371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Ask a Query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084832" y="1755648"/>
            <a:ext cx="1371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Chat: 'Which shipping mode has highest late delivery rate?' — watch Flow page DAG animate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712464" y="777240"/>
            <a:ext cx="1554480" cy="41605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12464" y="777240"/>
            <a:ext cx="1554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12464" y="7955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785616" y="1371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View Pipeline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03904" y="1755648"/>
            <a:ext cx="1371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Flow page: live node activation, Run Quality score, faithfulness result, models used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31536" y="777240"/>
            <a:ext cx="1554480" cy="41605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31536" y="777240"/>
            <a:ext cx="1554480" cy="502920"/>
          </a:xfrm>
          <a:prstGeom prst="rect">
            <a:avLst/>
          </a:prstGeom>
          <a:solidFill>
            <a:srgbClr val="C8102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1536" y="7955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04688" y="1371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Fraud Alert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522976" y="1755648"/>
            <a:ext cx="1371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Chat: 'I have a suspected fraud order from LATAM worth $50,000' — triggers HIGH severity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150608" y="777240"/>
            <a:ext cx="1554480" cy="416052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50608" y="777240"/>
            <a:ext cx="155448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50608" y="79552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7223760" y="137160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Analytics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242048" y="1755648"/>
            <a:ext cx="1371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Analytics page: late delivery by market, fraud by region, shipment mode breakdown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74320" y="4572000"/>
            <a:ext cx="8595360" cy="411480"/>
          </a:xfrm>
          <a:prstGeom prst="rect">
            <a:avLst/>
          </a:prstGeom>
          <a:solidFill>
            <a:srgbClr val="FDECEA"/>
          </a:solidFill>
          <a:ln w="6350">
            <a:solidFill>
              <a:srgbClr val="C810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810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Sample queries available in presentation_queries.txt — 18 curated questions covering all agent paths, HILT trigger, and cache demo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52060"/>
            <a:ext cx="9144000" cy="914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 &amp; A</a:t>
            </a:r>
            <a:endParaRPr lang="en-US" sz="80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Questions, discussion, and feedback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663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0" y="484632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4572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62672" y="4572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10144" y="4572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57616" y="4572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05088" y="4572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123444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2672" y="123444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10144" y="123444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57616" y="123444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05088" y="123444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0" y="201168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62672" y="201168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10144" y="201168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7616" y="201168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05088" y="201168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0" y="278892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62672" y="278892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10144" y="278892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57616" y="278892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05088" y="278892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356616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62672" y="356616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10144" y="356616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57616" y="356616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05088" y="356616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0" y="43434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62672" y="43434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10144" y="43434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57616" y="43434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343400"/>
            <a:ext cx="64008" cy="64008"/>
          </a:xfrm>
          <a:prstGeom prst="ellipse">
            <a:avLst/>
          </a:prstGeom>
          <a:solidFill>
            <a:srgbClr val="FFFFFF">
              <a:alpha val="3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118872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33" name="Text 31"/>
          <p:cNvSpPr/>
          <p:nvPr/>
        </p:nvSpPr>
        <p:spPr>
          <a:xfrm>
            <a:off x="731520" y="27432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Sai Krishna Gangadharuni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31821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AI-Powered Supply Chain Risk Intelligence Assistant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3152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Prodapt · June 2026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65760" y="46634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Prodapt.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0" y="47091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www.prodapt.com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Supply Chain Risk Intelligence Assistant</dc:title>
  <dc:subject>PptxGenJS Presentation</dc:subject>
  <dc:creator>PptxGenJS</dc:creator>
  <cp:lastModifiedBy>PptxGenJS</cp:lastModifiedBy>
  <cp:revision>1</cp:revision>
  <dcterms:created xsi:type="dcterms:W3CDTF">2026-06-06T16:37:26Z</dcterms:created>
  <dcterms:modified xsi:type="dcterms:W3CDTF">2026-06-06T16:37:26Z</dcterms:modified>
</cp:coreProperties>
</file>